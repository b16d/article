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202077-9583-11E8-80D4-EE24290D55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7137" y="2904154"/>
            <a:ext cx="7197726" cy="2421464"/>
          </a:xfrm>
        </p:spPr>
        <p:txBody>
          <a:bodyPr>
            <a:normAutofit/>
          </a:bodyPr>
          <a:lstStyle/>
          <a:p>
            <a:r>
              <a:rPr lang="fr-FR" sz="7200" b="1" dirty="0">
                <a:solidFill>
                  <a:schemeClr val="bg1"/>
                </a:solidFill>
              </a:rPr>
              <a:t>2025</a:t>
            </a:r>
            <a:br>
              <a:rPr lang="fr-FR" sz="7200" b="1" dirty="0"/>
            </a:br>
            <a:r>
              <a:rPr lang="fr-FR" sz="3600" b="1" dirty="0">
                <a:solidFill>
                  <a:schemeClr val="bg1"/>
                </a:solidFill>
              </a:rPr>
              <a:t>Rex by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247B5C6-D372-D566-01A7-C90D4455F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1324" y="4201668"/>
            <a:ext cx="2247900" cy="224790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E9FDAA22-D206-9487-D54E-A24B0967E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881" y="2648797"/>
            <a:ext cx="3866125" cy="193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2518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F8833C-A7B6-F948-CAB3-67F3F4DC6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6600" b="1" dirty="0">
                <a:solidFill>
                  <a:schemeClr val="tx1">
                    <a:lumMod val="95000"/>
                  </a:schemeClr>
                </a:solidFill>
              </a:rPr>
              <a:t>NewCRAFTS ?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57113A-5898-5CE7-C046-40BDB561D724}"/>
              </a:ext>
            </a:extLst>
          </p:cNvPr>
          <p:cNvSpPr txBox="1"/>
          <p:nvPr/>
        </p:nvSpPr>
        <p:spPr>
          <a:xfrm>
            <a:off x="1655064" y="2542461"/>
            <a:ext cx="76626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Crée en 2014 par une communauté de devs indépendants et communautaires</a:t>
            </a:r>
          </a:p>
          <a:p>
            <a:endParaRPr lang="fr-FR" dirty="0"/>
          </a:p>
          <a:p>
            <a:r>
              <a:rPr lang="fr-FR" dirty="0"/>
              <a:t>International (conférencier venant de tous les pays)</a:t>
            </a:r>
          </a:p>
          <a:p>
            <a:endParaRPr lang="fr-FR" dirty="0"/>
          </a:p>
          <a:p>
            <a:r>
              <a:rPr lang="fr-FR" dirty="0"/>
              <a:t>Software craftmanship</a:t>
            </a:r>
          </a:p>
          <a:p>
            <a:endParaRPr lang="fr-FR" dirty="0"/>
          </a:p>
          <a:p>
            <a:r>
              <a:rPr lang="fr-FR" dirty="0"/>
              <a:t>Focus sur les pratiques de développement logiciel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0889762-74EA-8BDD-47EE-4734AFD05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6892" y="5774436"/>
            <a:ext cx="1147572" cy="1147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31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FF95EA-2089-5CB2-9CBF-D156FB29F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96" y="230971"/>
            <a:ext cx="10039986" cy="944618"/>
          </a:xfrm>
        </p:spPr>
        <p:txBody>
          <a:bodyPr/>
          <a:lstStyle/>
          <a:p>
            <a:r>
              <a:rPr lang="fr-FR" dirty="0"/>
              <a:t>Conf Pour les DEVS ?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EE471F6-AAC2-0FC2-067D-472DECA5B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6892" y="5774436"/>
            <a:ext cx="1147572" cy="1147572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656FF031-D2DC-3E91-B846-C29D0EB51C77}"/>
              </a:ext>
            </a:extLst>
          </p:cNvPr>
          <p:cNvSpPr txBox="1"/>
          <p:nvPr/>
        </p:nvSpPr>
        <p:spPr>
          <a:xfrm>
            <a:off x="777240" y="1175589"/>
            <a:ext cx="6099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Non car aucune technologie en particulier mise en avant …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E7B131-002C-BDED-AC78-FFCC4862B230}"/>
              </a:ext>
            </a:extLst>
          </p:cNvPr>
          <p:cNvSpPr txBox="1"/>
          <p:nvPr/>
        </p:nvSpPr>
        <p:spPr>
          <a:xfrm>
            <a:off x="1380744" y="1489564"/>
            <a:ext cx="5084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… Oui car on parle de pratique de craftmanship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0E44B368-36D7-03E2-6066-35E7D1953974}"/>
              </a:ext>
            </a:extLst>
          </p:cNvPr>
          <p:cNvSpPr txBox="1">
            <a:spLocks/>
          </p:cNvSpPr>
          <p:nvPr/>
        </p:nvSpPr>
        <p:spPr>
          <a:xfrm>
            <a:off x="310896" y="1966916"/>
            <a:ext cx="10039986" cy="944618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Conf Pour les TechLEADS ?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C38816D-51DD-1CE3-DBCC-5E126608C768}"/>
              </a:ext>
            </a:extLst>
          </p:cNvPr>
          <p:cNvSpPr txBox="1"/>
          <p:nvPr/>
        </p:nvSpPr>
        <p:spPr>
          <a:xfrm>
            <a:off x="777240" y="2911534"/>
            <a:ext cx="7452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Non car aucun focus sur le management technique ou méthodo spécifiques …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CAFC0F1-1069-1EEC-1E51-18920BB4E0A4}"/>
              </a:ext>
            </a:extLst>
          </p:cNvPr>
          <p:cNvSpPr txBox="1"/>
          <p:nvPr/>
        </p:nvSpPr>
        <p:spPr>
          <a:xfrm>
            <a:off x="1380744" y="3280866"/>
            <a:ext cx="9566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… Oui car on parle de communication, prise de décision, qualité technique, architecture évolutive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A8BE6003-B91B-03A7-7BF4-A292ACA910A9}"/>
              </a:ext>
            </a:extLst>
          </p:cNvPr>
          <p:cNvSpPr txBox="1">
            <a:spLocks/>
          </p:cNvSpPr>
          <p:nvPr/>
        </p:nvSpPr>
        <p:spPr>
          <a:xfrm>
            <a:off x="310896" y="3767699"/>
            <a:ext cx="10039986" cy="944618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Conf Pour les Architectes ?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EB9B01B-A132-3EE8-C9E0-75E94622087D}"/>
              </a:ext>
            </a:extLst>
          </p:cNvPr>
          <p:cNvSpPr txBox="1"/>
          <p:nvPr/>
        </p:nvSpPr>
        <p:spPr>
          <a:xfrm>
            <a:off x="777240" y="4638335"/>
            <a:ext cx="7452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Non car aucun focus sur des Framework, outillages ou architectures cibles …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F6BF038-04F2-25B3-F142-BD5AEA5797B4}"/>
              </a:ext>
            </a:extLst>
          </p:cNvPr>
          <p:cNvSpPr txBox="1"/>
          <p:nvPr/>
        </p:nvSpPr>
        <p:spPr>
          <a:xfrm>
            <a:off x="1312926" y="4999104"/>
            <a:ext cx="95661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… Oui car on parle design logiciel, modélisation, contraintes humaines, alignement des équipes, sociologie des organisations</a:t>
            </a:r>
          </a:p>
        </p:txBody>
      </p:sp>
    </p:spTree>
    <p:extLst>
      <p:ext uri="{BB962C8B-B14F-4D97-AF65-F5344CB8AC3E}">
        <p14:creationId xmlns:p14="http://schemas.microsoft.com/office/powerpoint/2010/main" val="2201305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D612D09A-2095-4D50-3A74-BB191319B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011" y="70366"/>
            <a:ext cx="10131425" cy="1456267"/>
          </a:xfrm>
        </p:spPr>
        <p:txBody>
          <a:bodyPr>
            <a:normAutofit/>
          </a:bodyPr>
          <a:lstStyle/>
          <a:p>
            <a:r>
              <a:rPr lang="fr-FR" sz="4800" b="1" dirty="0"/>
              <a:t>De quoi on Parle alors ?</a:t>
            </a:r>
          </a:p>
        </p:txBody>
      </p:sp>
      <p:pic>
        <p:nvPicPr>
          <p:cNvPr id="7" name="Graphique 6" descr="Banque avec un remplissage uni">
            <a:extLst>
              <a:ext uri="{FF2B5EF4-FFF2-40B4-BE49-F238E27FC236}">
                <a16:creationId xmlns:a16="http://schemas.microsoft.com/office/drawing/2014/main" id="{13023CEB-6174-DC68-4593-E8703F855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80" y="2065867"/>
            <a:ext cx="1475232" cy="1475232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372DBDF-1AAE-1F63-B78B-4CCEAFAF6A72}"/>
              </a:ext>
            </a:extLst>
          </p:cNvPr>
          <p:cNvSpPr txBox="1"/>
          <p:nvPr/>
        </p:nvSpPr>
        <p:spPr>
          <a:xfrm>
            <a:off x="438912" y="3522134"/>
            <a:ext cx="106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Métier</a:t>
            </a:r>
          </a:p>
        </p:txBody>
      </p:sp>
      <p:pic>
        <p:nvPicPr>
          <p:cNvPr id="11" name="Graphique 10" descr="Cerveau dans une tête avec un remplissage uni">
            <a:extLst>
              <a:ext uri="{FF2B5EF4-FFF2-40B4-BE49-F238E27FC236}">
                <a16:creationId xmlns:a16="http://schemas.microsoft.com/office/drawing/2014/main" id="{9C38C221-3E18-26B3-433A-7B5F8D2774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3680" y="2065867"/>
            <a:ext cx="1475232" cy="1475232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78AC8F08-45A7-4B3B-C272-C01FEC2A495D}"/>
              </a:ext>
            </a:extLst>
          </p:cNvPr>
          <p:cNvSpPr txBox="1"/>
          <p:nvPr/>
        </p:nvSpPr>
        <p:spPr>
          <a:xfrm>
            <a:off x="3063240" y="3522134"/>
            <a:ext cx="106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Design</a:t>
            </a:r>
          </a:p>
        </p:txBody>
      </p:sp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36363FB2-8609-4CF0-693C-1EA72730A241}"/>
              </a:ext>
            </a:extLst>
          </p:cNvPr>
          <p:cNvSpPr/>
          <p:nvPr/>
        </p:nvSpPr>
        <p:spPr>
          <a:xfrm>
            <a:off x="1581912" y="2651760"/>
            <a:ext cx="1191768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Flèche : droite 13">
            <a:extLst>
              <a:ext uri="{FF2B5EF4-FFF2-40B4-BE49-F238E27FC236}">
                <a16:creationId xmlns:a16="http://schemas.microsoft.com/office/drawing/2014/main" id="{756D05EB-9BD8-6F35-BD4E-E9E47C27FEA7}"/>
              </a:ext>
            </a:extLst>
          </p:cNvPr>
          <p:cNvSpPr/>
          <p:nvPr/>
        </p:nvSpPr>
        <p:spPr>
          <a:xfrm>
            <a:off x="4248912" y="2651760"/>
            <a:ext cx="1191768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Graphique 15" descr="Enseignant avec un remplissage uni">
            <a:extLst>
              <a:ext uri="{FF2B5EF4-FFF2-40B4-BE49-F238E27FC236}">
                <a16:creationId xmlns:a16="http://schemas.microsoft.com/office/drawing/2014/main" id="{C6B535BC-D005-BD06-8E0B-4295897EC8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99176" y="2121408"/>
            <a:ext cx="1475232" cy="1475232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7EEA8202-0CFF-E54E-6E98-B3E2305BADFC}"/>
              </a:ext>
            </a:extLst>
          </p:cNvPr>
          <p:cNvSpPr txBox="1"/>
          <p:nvPr/>
        </p:nvSpPr>
        <p:spPr>
          <a:xfrm>
            <a:off x="5724144" y="3541099"/>
            <a:ext cx="1350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Architecture</a:t>
            </a:r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82653B70-828B-399D-8490-55957692A80E}"/>
              </a:ext>
            </a:extLst>
          </p:cNvPr>
          <p:cNvSpPr/>
          <p:nvPr/>
        </p:nvSpPr>
        <p:spPr>
          <a:xfrm>
            <a:off x="7232904" y="2596896"/>
            <a:ext cx="1191768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E5B24495-5551-82DA-06F1-F8E01712CA3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74608" y="2053937"/>
            <a:ext cx="1671828" cy="1671828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B9B56657-06B7-6309-38D3-2C9D95068DAE}"/>
              </a:ext>
            </a:extLst>
          </p:cNvPr>
          <p:cNvSpPr txBox="1"/>
          <p:nvPr/>
        </p:nvSpPr>
        <p:spPr>
          <a:xfrm>
            <a:off x="8473440" y="3541099"/>
            <a:ext cx="1690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Développement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43985DF-0B0F-828A-4A03-67392F5B0A9D}"/>
              </a:ext>
            </a:extLst>
          </p:cNvPr>
          <p:cNvSpPr txBox="1"/>
          <p:nvPr/>
        </p:nvSpPr>
        <p:spPr>
          <a:xfrm>
            <a:off x="3238119" y="4485959"/>
            <a:ext cx="531266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0" dirty="0"/>
              <a:t>Technico-social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32E41A-B3FB-1288-768F-2A3E917B2F53}"/>
              </a:ext>
            </a:extLst>
          </p:cNvPr>
          <p:cNvSpPr/>
          <p:nvPr/>
        </p:nvSpPr>
        <p:spPr>
          <a:xfrm>
            <a:off x="106680" y="2053937"/>
            <a:ext cx="10503408" cy="20144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1659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602B1D-DD61-A60D-1854-427665876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5400" b="1" dirty="0"/>
              <a:t>Technico-social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7848D17-ACE1-B899-4D02-F16846D2F7A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52401" y="1987399"/>
            <a:ext cx="10982494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choix techniques influencent les dynamiques humaines</a:t>
            </a:r>
            <a:b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(architecture, dette technique, tests, outillage → facilitent ou compliquent la collaboration).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interactions humaines influencent la qualité technique</a:t>
            </a:r>
            <a:b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(communication, culture d’équipe, feedback, psychologie → affectent la conception et le code).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logiciel est un objet collectif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fr-FR" altLang="fr-FR" dirty="0">
                <a:latin typeface="Arial" panose="020B0604020202020204" pitchFamily="34" charset="0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impossible de le dissocier des processus, de la culture ou des relations de l’équipe).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Compétences sociales = compétences techniques</a:t>
            </a:r>
            <a:b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(prise de décision collective, facilitation, design collaboratif, pair 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programming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posture d’apprentissage…).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E3C5BC3-6AEA-0DBB-D483-7BFEAFF9E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6892" y="5774436"/>
            <a:ext cx="1147572" cy="1147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9610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éleste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{6D793409-8DA8-4575-959F-C0D1D3BADB47}TFb5ae2469-0bae-4978-b0e0-39dd046150ff1a5088a3-0c5865d13c35</Template>
  <TotalTime>0</TotalTime>
  <Words>238</Words>
  <Application>Microsoft Office PowerPoint</Application>
  <PresentationFormat>Grand écran</PresentationFormat>
  <Paragraphs>33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Céleste</vt:lpstr>
      <vt:lpstr>2025 Rex by</vt:lpstr>
      <vt:lpstr>NewCRAFTS ?</vt:lpstr>
      <vt:lpstr>Conf Pour les DEVS ?</vt:lpstr>
      <vt:lpstr>De quoi on Parle alors ?</vt:lpstr>
      <vt:lpstr>Technico-social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Hervé Letourneur</dc:creator>
  <cp:lastModifiedBy>Hervé Letourneur</cp:lastModifiedBy>
  <cp:revision>1</cp:revision>
  <dcterms:created xsi:type="dcterms:W3CDTF">2025-12-07T14:39:04Z</dcterms:created>
  <dcterms:modified xsi:type="dcterms:W3CDTF">2025-12-07T15:49:44Z</dcterms:modified>
</cp:coreProperties>
</file>